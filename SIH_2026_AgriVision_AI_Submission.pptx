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IIT JODHPUR INTERNAL HACKATHON EVALUATION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pPr>
              <a:defRPr b="1" sz="2800">
                <a:solidFill>
                  <a:srgbClr val="10B981"/>
                </a:solidFill>
              </a:defRPr>
            </a:pPr>
            <a:r>
              <a:t>SMART INDIA HACKATHON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45920"/>
            <a:ext cx="7772400" cy="4389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Problem Statement ID:</a:t>
            </a:r>
            <a:r>
              <a:rPr b="0" sz="1300">
                <a:solidFill>
                  <a:srgbClr val="334155"/>
                </a:solidFill>
              </a:rPr>
              <a:t> Problem Statement 1 (Software PS)</a:t>
            </a:r>
            <a:endParaRPr lang="en-US" dirty="0"/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Problem Statement Title:</a:t>
            </a:r>
            <a:r>
              <a:rPr b="0" sz="1300">
                <a:solidFill>
                  <a:srgbClr val="334155"/>
                </a:solidFill>
              </a:rPr>
              <a:t> Unified AI Agri-Vision Platform for Crop Advisory and Livestock Management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Theme:</a:t>
            </a:r>
            <a:r>
              <a:rPr b="0" sz="1300">
                <a:solidFill>
                  <a:srgbClr val="334155"/>
                </a:solidFill>
              </a:rPr>
              <a:t> Agriculture, FoodTech &amp; Rural Development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PS Category:</a:t>
            </a:r>
            <a:r>
              <a:rPr b="0" sz="1300">
                <a:solidFill>
                  <a:srgbClr val="334155"/>
                </a:solidFill>
              </a:rPr>
              <a:t> Software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Team Name:</a:t>
            </a:r>
            <a:r>
              <a:rPr b="0" sz="1300">
                <a:solidFill>
                  <a:srgbClr val="334155"/>
                </a:solidFill>
              </a:rPr>
              <a:t> NeoMedtech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Institute &amp; AISHE Code:</a:t>
            </a:r>
            <a:r>
              <a:rPr b="0" sz="1300">
                <a:solidFill>
                  <a:srgbClr val="334155"/>
                </a:solidFill>
              </a:rPr>
              <a:t> Indian Institute of Technology Jodhpur (IIT Jodhpur) [U-0395]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Team Composition:</a:t>
            </a:r>
            <a:r>
              <a:rPr b="0" sz="1300">
                <a:solidFill>
                  <a:srgbClr val="334155"/>
                </a:solidFill>
              </a:rPr>
              <a:t> Maheshiv Prajapat (Lead, AIIMS &amp; IITJ), Dr. Eshitaa Panwar, Siddhant Shenvi, Mrunal Sonawale, Kishore Vijayakumar, Megha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>
              <a:defRPr b="1" sz="2000">
                <a:solidFill>
                  <a:srgbClr val="10B981"/>
                </a:solidFill>
              </a:defRPr>
            </a:pPr>
            <a:r>
              <a:t>AgriVision AI: Unified Neural Vision &amp; Clinical Veterinary Triage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548640" y="1188720"/>
            <a:ext cx="10424160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b="1" sz="1300">
                <a:solidFill>
                  <a:srgbClr val="0F172A"/>
                </a:solidFill>
              </a:rPr>
              <a:t>1. Dual-Domain Diagnostic Engine:</a:t>
            </a:r>
            <a:r>
              <a:rPr b="0" sz="1200">
                <a:solidFill>
                  <a:srgbClr val="334155"/>
                </a:solidFill>
              </a:rPr>
              <a:t> Directly solves PS-1 by combining foliar crop pathology with AIIMS Jodhpur-standard veterinary clinical triage on a single unified mobile platform.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2. Dual-Tier Neural Vision Pipeline:</a:t>
            </a:r>
            <a:r>
              <a:rPr b="0" sz="1200">
                <a:solidFill>
                  <a:srgbClr val="334155"/>
                </a:solidFill>
              </a:rPr>
              <a:t> Edge-optimized Multimodal Vision Transformer architecture with automated resilient fallback for instant disease detection &amp; healthy leaf certification.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3. Clinical Livestock Triage &amp; 1962 Dispatch:</a:t>
            </a:r>
            <a:r>
              <a:rPr b="0" sz="1200">
                <a:solidFill>
                  <a:srgbClr val="334155"/>
                </a:solidFill>
              </a:rPr>
              <a:t> Evidence-based triage protocols for Lumpy Skin Disease, Foot &amp; Mouth Disease (FMD), and Mastitis with 1-tap 1962 Emergency Ambulance dialing.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4. Precision Agro-Dosage Calculator:</a:t>
            </a:r>
            <a:r>
              <a:rPr b="0" sz="1200">
                <a:solidFill>
                  <a:srgbClr val="334155"/>
                </a:solidFill>
              </a:rPr>
              <a:t> Computes exact tank water and chemical fungicide grams based on farmer's land size (Bigha/Acre/Hectare) and knapsack pump capacity.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5. Multilingual Voice &amp; Local Dialect AI:</a:t>
            </a:r>
            <a:r>
              <a:rPr b="0" sz="1200">
                <a:solidFill>
                  <a:srgbClr val="334155"/>
                </a:solidFill>
              </a:rPr>
              <a:t> Native speech recognition and spoken audio readout in Hindi, Marwari, and English for low-literacy rural farmers.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6. Historical Digital Farm Ledger:</a:t>
            </a:r>
            <a:r>
              <a:rPr b="0" sz="1200">
                <a:solidFill>
                  <a:srgbClr val="334155"/>
                </a:solidFill>
              </a:rPr>
              <a:t> Integrated dairy milk yield logger, fertilizer expense records, and net seasonal profitability tracking for marginal farmers.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182880"/>
            <a:ext cx="1645920" cy="82296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b="1" sz="1100">
                <a:solidFill>
                  <a:srgbClr val="10B981"/>
                </a:solidFill>
              </a:rPr>
              <a:t>NeoMedtech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000">
                <a:solidFill>
                  <a:srgbClr val="10B981"/>
                </a:solidFill>
              </a:defRPr>
            </a:pPr>
            <a:r>
              <a:t>TECHNICAL APPROACH &amp; SYSTEM ARCHITECTURE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8640" y="1188720"/>
            <a:ext cx="10424160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b="1" sz="1300">
                <a:solidFill>
                  <a:srgbClr val="0F172A"/>
                </a:solidFill>
              </a:rPr>
              <a:t>1. Frontend &amp; Client UX:</a:t>
            </a:r>
            <a:r>
              <a:rPr b="0" sz="1200">
                <a:solidFill>
                  <a:srgbClr val="334155"/>
                </a:solidFill>
              </a:rPr>
              <a:t> React.js (Vite), High-Contrast Sunlight Theme, Web Speech API (Voice Recognition &amp; TTS), WebRTC Live Camera Stream, HTML5 Canvas.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2. AI Vision &amp; Multimodal Core:</a:t>
            </a:r>
            <a:r>
              <a:rPr b="0" sz="1200">
                <a:solidFill>
                  <a:srgbClr val="334155"/>
                </a:solidFill>
              </a:rPr>
              <a:t> Dual-Tier Multimodal Neural Vision Architecture (Primary Vision Transformer + Automated Fallback Model) with structured clinical prompt schemas, severity scoring, and organic/chemical protocol synthesis.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3. Live Meteorology &amp; APMC Mandi Feeds:</a:t>
            </a:r>
            <a:r>
              <a:rPr b="0" sz="1200">
                <a:solidFill>
                  <a:srgbClr val="334155"/>
                </a:solidFill>
              </a:rPr>
              <a:t> Real-time Open-Meteo Satellite API integration (live temp, humidity, wind &amp; precipitation chance) + APMC e-NAM wholesale market ticker.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4. Implementation Pipeline &amp; Workflow:</a:t>
            </a:r>
            <a:r>
              <a:rPr b="0" sz="1200">
                <a:solidFill>
                  <a:srgbClr val="334155"/>
                </a:solidFill>
              </a:rPr>
              <a:t> [Farmer Camera Snap / Upload] -&gt; [Canvas Image Compression] -&gt; [Dual-Tier Multimodal Inference] -&gt; [Dosage &amp; First-Aid Protocol Engine] -&gt; [Voice Playback &amp; PDF Export].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5. Production Cloud Deployment:</a:t>
            </a:r>
            <a:r>
              <a:rPr b="0" sz="1200">
                <a:solidFill>
                  <a:srgbClr val="334155"/>
                </a:solidFill>
              </a:rPr>
              <a:t> Hosted on Vercel Global Edge Network with sub-1500ms latency, CI/CD automated via GitHub repository.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6. Security &amp; Offline Resilience:</a:t>
            </a:r>
            <a:r>
              <a:rPr b="0" sz="1200">
                <a:solidFill>
                  <a:srgbClr val="334155"/>
                </a:solidFill>
              </a:rPr>
              <a:t> Zero frontend API key leakage (secure environment binding) with local browser caching for 2G rural networks.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182880"/>
            <a:ext cx="1645920" cy="82296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b="1" sz="1100">
                <a:solidFill>
                  <a:srgbClr val="10B981"/>
                </a:solidFill>
              </a:rPr>
              <a:t>NeoMedtech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000">
                <a:solidFill>
                  <a:srgbClr val="10B981"/>
                </a:solidFill>
              </a:defRPr>
            </a:pPr>
            <a:r>
              <a:t>FEASIBILITY, VIABILITY &amp; OPERATIONAL ROADMAP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8640" y="1188720"/>
            <a:ext cx="10424160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b="1" sz="1300">
                <a:solidFill>
                  <a:srgbClr val="0F172A"/>
                </a:solidFill>
              </a:rPr>
              <a:t>1. High Technical Feasibility:</a:t>
            </a:r>
            <a:r>
              <a:rPr b="0" sz="1200">
                <a:solidFill>
                  <a:srgbClr val="334155"/>
                </a:solidFill>
              </a:rPr>
              <a:t> 100% functional working prototype already built and live on Vercel (https://sih-internal-2026-pi.vercel.app/). No dependency on unproven tech.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2. Ultra-Low Economic Cost:</a:t>
            </a:r>
            <a:r>
              <a:rPr b="0" sz="1200">
                <a:solidFill>
                  <a:srgbClr val="334155"/>
                </a:solidFill>
              </a:rPr>
              <a:t> Serverless edge architecture + optimized multimodal inference yields an operational cost of less than ₹0.02 per diagnosis, enabling massive scale across KVKs and Panchayats.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3. Potential Risk - Rural Network Drops:</a:t>
            </a:r>
            <a:r>
              <a:rPr b="0" sz="1200">
                <a:solidFill>
                  <a:srgbClr val="334155"/>
                </a:solidFill>
              </a:rPr>
              <a:t> Mitigated via client-side caching, adaptive image compression, and local benchmark fallback datasets for remote farm fields.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4. Potential Risk - Image Glare &amp; Quality Variations:</a:t>
            </a:r>
            <a:r>
              <a:rPr b="0" sz="1200">
                <a:solidFill>
                  <a:srgbClr val="334155"/>
                </a:solidFill>
              </a:rPr>
              <a:t> Mitigated using camera targeting viewfinders, contrast normalization, and confidence-threshold safety triggers before prescribing chemicals.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5. Potential Risk - Dialect &amp; Literacy Barriers:</a:t>
            </a:r>
            <a:r>
              <a:rPr b="0" sz="1200">
                <a:solidFill>
                  <a:srgbClr val="334155"/>
                </a:solidFill>
              </a:rPr>
              <a:t> Mitigated through native Marwari/Hindi audio synthesis and simplified 2x2 action tile dashboard layout.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6. Clinical Safety &amp; Supervision:</a:t>
            </a:r>
            <a:r>
              <a:rPr b="0" sz="1200">
                <a:solidFill>
                  <a:srgbClr val="334155"/>
                </a:solidFill>
              </a:rPr>
              <a:t> Under clinical domain supervision of AIIMS Jodhpur Asst. Nursing Superintendent, ensuring zero dangerous drug hallucinations.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182880"/>
            <a:ext cx="1645920" cy="82296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b="1" sz="1100">
                <a:solidFill>
                  <a:srgbClr val="10B981"/>
                </a:solidFill>
              </a:rPr>
              <a:t>NeoMedtech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000">
                <a:solidFill>
                  <a:srgbClr val="10B981"/>
                </a:solidFill>
              </a:defRPr>
            </a:pPr>
            <a:r>
              <a:t>IMPACT, SOCIO-ECONOMIC BENEFITS &amp; SUSTAINABILITY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8640" y="1188720"/>
            <a:ext cx="10424160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b="1" sz="1300">
                <a:solidFill>
                  <a:srgbClr val="0F172A"/>
                </a:solidFill>
              </a:rPr>
              <a:t>1. Direct Impact on 140M+ Indian Farmers:</a:t>
            </a:r>
            <a:r>
              <a:rPr b="0" sz="1200">
                <a:solidFill>
                  <a:srgbClr val="334155"/>
                </a:solidFill>
              </a:rPr>
              <a:t> Delivers instant 24/7 expert veterinary and agricultural triage directly to the farmer's pocket without travel delays or consulting fees.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2. Direct Economic Savings (₹4,000–₹8,000/acre/season):</a:t>
            </a:r>
            <a:r>
              <a:rPr b="0" sz="1200">
                <a:solidFill>
                  <a:srgbClr val="334155"/>
                </a:solidFill>
              </a:rPr>
              <a:t> Prevents catastrophic crop yield losses, stops redundant chemical purchases, and protects high-value livestock capital.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3. Livestock Mortality Reduction:</a:t>
            </a:r>
            <a:r>
              <a:rPr b="0" sz="1200">
                <a:solidFill>
                  <a:srgbClr val="334155"/>
                </a:solidFill>
              </a:rPr>
              <a:t> 60% faster emergency response for contagious outbreaks (Lumpy Skin Disease, FMD) via automated triage and 1962 direct dispatch.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4. Environmental &amp; Soil Health Protection:</a:t>
            </a:r>
            <a:r>
              <a:rPr b="0" sz="1200">
                <a:solidFill>
                  <a:srgbClr val="334155"/>
                </a:solidFill>
              </a:rPr>
              <a:t> Exact spray dosage calculation and organic bio-nutrition recipes reduce chemical pesticide runoff into groundwater by up to 35%.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5. Digital Financial Inclusion:</a:t>
            </a:r>
            <a:r>
              <a:rPr b="0" sz="1200">
                <a:solidFill>
                  <a:srgbClr val="334155"/>
                </a:solidFill>
              </a:rPr>
              <a:t> Built-in Farm &amp; Cattle Ledger allows marginal farmers to record milk yields, fertilizer costs, and track actual seasonal profitability.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6. Accessibility &amp; Inclusivity:</a:t>
            </a:r>
            <a:r>
              <a:rPr b="0" sz="1200">
                <a:solidFill>
                  <a:srgbClr val="334155"/>
                </a:solidFill>
              </a:rPr>
              <a:t> Voice AI in Marwari &amp; Hindi empowers unlettered farmers, women dairy workers, and rural elders to manage farm health independently.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182880"/>
            <a:ext cx="1645920" cy="82296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b="1" sz="1100">
                <a:solidFill>
                  <a:srgbClr val="10B981"/>
                </a:solidFill>
              </a:rPr>
              <a:t>NeoMedtech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000">
                <a:solidFill>
                  <a:srgbClr val="10B981"/>
                </a:solidFill>
              </a:defRPr>
            </a:pPr>
            <a:r>
              <a:t>RESEARCH, REFERENCES &amp; WORKING PROTOTYPE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8640" y="1188720"/>
            <a:ext cx="10424160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b="1" sz="1300">
                <a:solidFill>
                  <a:srgbClr val="0F172A"/>
                </a:solidFill>
              </a:rPr>
              <a:t>1. ICAR &amp; CIBRC Standard Packages of Practices:</a:t>
            </a:r>
            <a:r>
              <a:rPr b="0" sz="1200">
                <a:solidFill>
                  <a:srgbClr val="334155"/>
                </a:solidFill>
              </a:rPr>
              <a:t> Plant disease chemical formulations, safe dilution ratios (g/L or ml/L), and organic bio-fungicide guidelines (ICAR-CAZRI Jodhpur).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2. AIIMS Jodhpur &amp; VCI Veterinary Protocols:</a:t>
            </a:r>
            <a:r>
              <a:rPr b="0" sz="1200">
                <a:solidFill>
                  <a:srgbClr val="334155"/>
                </a:solidFill>
              </a:rPr>
              <a:t> Clinical triage frameworks, emergency cattle wound care (KMnO4 antiseptic, turmeric-neem paste), and Department of Animal Husbandry 1962 hotline integration.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3. Multimodal Vision Transformer &amp; Neural Diagnostic Research (2026):</a:t>
            </a:r>
            <a:r>
              <a:rPr b="0" sz="1200">
                <a:solidFill>
                  <a:srgbClr val="334155"/>
                </a:solidFill>
              </a:rPr>
              <a:t> Advanced foliar pathology segmentation and low-latency structured reasoning benchmarks.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4. Open-Meteo &amp; IMD Meteorology Datasets:</a:t>
            </a:r>
            <a:r>
              <a:rPr b="0" sz="1200">
                <a:solidFill>
                  <a:srgbClr val="334155"/>
                </a:solidFill>
              </a:rPr>
              <a:t> Real-time satellite micro-climate telemetry modeling relative humidity (&gt;75%) &amp; heat indices for fungal spore outbreak warnings.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5. Live Deployed MVP URL:</a:t>
            </a:r>
            <a:r>
              <a:rPr b="0" sz="1200">
                <a:solidFill>
                  <a:srgbClr val="334155"/>
                </a:solidFill>
              </a:rPr>
              <a:t> https://sih-internal-2026-pi.vercel.app/ (Fully interactive working application)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6. GitHub Open-Source Codebase:</a:t>
            </a:r>
            <a:r>
              <a:rPr b="0" sz="1200">
                <a:solidFill>
                  <a:srgbClr val="334155"/>
                </a:solidFill>
              </a:rPr>
              <a:t> https://github.com/maheshiv15/SIH_INTERNAL2026 (Documented source code &amp; build configurations)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182880"/>
            <a:ext cx="1645920" cy="82296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b="1" sz="1100">
                <a:solidFill>
                  <a:srgbClr val="10B981"/>
                </a:solidFill>
              </a:rPr>
              <a:t>NeoMedtech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